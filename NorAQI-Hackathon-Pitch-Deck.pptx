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D384C-EE4B-43A3-9FD2-A280BBFDD042}" v="5" dt="2026-09-29T17:08:0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Maharana" userId="44571677629cbe70" providerId="LiveId" clId="{61ED816D-0638-407E-83C7-EDBA65603467}"/>
    <pc:docChg chg="undo custSel modSld">
      <pc:chgData name="Suraj Maharana" userId="44571677629cbe70" providerId="LiveId" clId="{61ED816D-0638-407E-83C7-EDBA65603467}" dt="2026-09-29T17:29:14.712" v="210" actId="14100"/>
      <pc:docMkLst>
        <pc:docMk/>
      </pc:docMkLst>
      <pc:sldChg chg="delSp modSp mod">
        <pc:chgData name="Suraj Maharana" userId="44571677629cbe70" providerId="LiveId" clId="{61ED816D-0638-407E-83C7-EDBA65603467}" dt="2026-09-29T17:29:14.712" v="210" actId="14100"/>
        <pc:sldMkLst>
          <pc:docMk/>
          <pc:sldMk cId="0" sldId="256"/>
        </pc:sldMkLst>
        <pc:spChg chg="mod">
          <ac:chgData name="Suraj Maharana" userId="44571677629cbe70" providerId="LiveId" clId="{61ED816D-0638-407E-83C7-EDBA65603467}" dt="2026-09-29T16:50:16.438" v="105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6:50:22.912" v="110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8:54.820" v="208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9:14.712" v="210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6:49:47.789" v="95" actId="6549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6:49:51.498" v="97" actId="6549"/>
          <ac:spMkLst>
            <pc:docMk/>
            <pc:sldMk cId="0" sldId="256"/>
            <ac:spMk id="18" creationId="{00000000-0000-0000-0000-000000000000}"/>
          </ac:spMkLst>
        </pc:spChg>
        <pc:spChg chg="del">
          <ac:chgData name="Suraj Maharana" userId="44571677629cbe70" providerId="LiveId" clId="{61ED816D-0638-407E-83C7-EDBA65603467}" dt="2026-09-29T16:55:02.259" v="112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6:54:00.211" v="111" actId="20577"/>
          <ac:spMkLst>
            <pc:docMk/>
            <pc:sldMk cId="0" sldId="256"/>
            <ac:spMk id="20" creationId="{00000000-0000-0000-0000-000000000000}"/>
          </ac:spMkLst>
        </pc:spChg>
        <pc:picChg chg="mod">
          <ac:chgData name="Suraj Maharana" userId="44571677629cbe70" providerId="LiveId" clId="{61ED816D-0638-407E-83C7-EDBA65603467}" dt="2026-09-29T16:48:52.142" v="44" actId="1076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 mod">
        <pc:chgData name="Suraj Maharana" userId="44571677629cbe70" providerId="LiveId" clId="{61ED816D-0638-407E-83C7-EDBA65603467}" dt="2026-09-29T17:27:40.208" v="207" actId="14100"/>
        <pc:sldMkLst>
          <pc:docMk/>
          <pc:sldMk cId="0" sldId="258"/>
        </pc:sldMkLst>
        <pc:spChg chg="mod">
          <ac:chgData name="Suraj Maharana" userId="44571677629cbe70" providerId="LiveId" clId="{61ED816D-0638-407E-83C7-EDBA65603467}" dt="2026-09-29T17:27:40.208" v="207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0:43.637" v="154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0:55.468" v="15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1:10.782" v="15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1:19.778" v="158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09:44.981" v="150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08.114" v="185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2:12.036" v="164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4:20.883" v="17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23.720" v="18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33.552" v="18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1:52.718" v="163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02.748" v="184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55.865" v="191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4:28.114" v="179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46.655" v="190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5:40.346" v="189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3:12.365" v="171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7:07.972" v="202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6:21.795" v="196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7:14.547" v="203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6:53.546" v="199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6:26.513" v="197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7:33.256" v="206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uraj Maharana" userId="44571677629cbe70" providerId="LiveId" clId="{61ED816D-0638-407E-83C7-EDBA65603467}" dt="2026-09-29T17:26:34.347" v="198" actId="1076"/>
          <ac:spMkLst>
            <pc:docMk/>
            <pc:sldMk cId="0" sldId="258"/>
            <ac:spMk id="28" creationId="{00000000-0000-0000-0000-000000000000}"/>
          </ac:spMkLst>
        </pc:spChg>
        <pc:spChg chg="add del mod">
          <ac:chgData name="Suraj Maharana" userId="44571677629cbe70" providerId="LiveId" clId="{61ED816D-0638-407E-83C7-EDBA65603467}" dt="2026-09-29T17:08:07.317" v="135" actId="767"/>
          <ac:spMkLst>
            <pc:docMk/>
            <pc:sldMk cId="0" sldId="258"/>
            <ac:spMk id="45" creationId="{C29919A9-0BE6-66AC-6ED1-6A1EBD917E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91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40110" y="371549"/>
            <a:ext cx="109537" cy="109537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7" name="Text 2"/>
          <p:cNvSpPr/>
          <p:nvPr/>
        </p:nvSpPr>
        <p:spPr>
          <a:xfrm>
            <a:off x="841102" y="340965"/>
            <a:ext cx="473763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BCECC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 2 — CLEAN AIR &amp; CLIMATE RESILIENCE</a:t>
            </a:r>
            <a:endParaRPr lang="en-US" sz="1040" dirty="0"/>
          </a:p>
        </p:txBody>
      </p:sp>
      <p:sp>
        <p:nvSpPr>
          <p:cNvPr id="8" name="Text 3"/>
          <p:cNvSpPr/>
          <p:nvPr/>
        </p:nvSpPr>
        <p:spPr>
          <a:xfrm>
            <a:off x="640035" y="1176338"/>
            <a:ext cx="2341238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900" b="1" kern="0" spc="-34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NorAQI</a:t>
            </a:r>
            <a:endParaRPr lang="en-US" sz="4900" dirty="0"/>
          </a:p>
        </p:txBody>
      </p:sp>
      <p:sp>
        <p:nvSpPr>
          <p:cNvPr id="9" name="Text 4"/>
          <p:cNvSpPr/>
          <p:nvPr/>
        </p:nvSpPr>
        <p:spPr>
          <a:xfrm>
            <a:off x="640035" y="1998613"/>
            <a:ext cx="457879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96"/>
              </a:spcBef>
              <a:buNone/>
            </a:pPr>
            <a:r>
              <a:rPr lang="en-US" sz="1690" dirty="0">
                <a:solidFill>
                  <a:srgbClr val="E4E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Hyperlocal Air Quality</a:t>
            </a:r>
            <a:endParaRPr lang="en-US" sz="1690" dirty="0"/>
          </a:p>
        </p:txBody>
      </p:sp>
      <p:sp>
        <p:nvSpPr>
          <p:cNvPr id="10" name="Text 5"/>
          <p:cNvSpPr/>
          <p:nvPr/>
        </p:nvSpPr>
        <p:spPr>
          <a:xfrm>
            <a:off x="640035" y="2245742"/>
            <a:ext cx="288858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96"/>
              </a:spcBef>
              <a:buNone/>
            </a:pPr>
            <a:r>
              <a:rPr lang="en-US" sz="1690" dirty="0">
                <a:solidFill>
                  <a:srgbClr val="E4E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&amp; Advisory</a:t>
            </a:r>
            <a:endParaRPr lang="en-US" sz="1690" dirty="0"/>
          </a:p>
        </p:txBody>
      </p:sp>
      <p:sp>
        <p:nvSpPr>
          <p:cNvPr id="11" name="Shape 6"/>
          <p:cNvSpPr/>
          <p:nvPr/>
        </p:nvSpPr>
        <p:spPr>
          <a:xfrm>
            <a:off x="639552" y="2773375"/>
            <a:ext cx="823913" cy="2381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2" name="Text 7"/>
          <p:cNvSpPr/>
          <p:nvPr/>
        </p:nvSpPr>
        <p:spPr>
          <a:xfrm>
            <a:off x="640035" y="2919338"/>
            <a:ext cx="325793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190" dirty="0">
                <a:solidFill>
                  <a:srgbClr val="BF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Developer Hackathon 2026</a:t>
            </a:r>
            <a:endParaRPr lang="en-US" sz="1190" dirty="0"/>
          </a:p>
        </p:txBody>
      </p:sp>
      <p:sp>
        <p:nvSpPr>
          <p:cNvPr id="13" name="Text 8"/>
          <p:cNvSpPr/>
          <p:nvPr/>
        </p:nvSpPr>
        <p:spPr>
          <a:xfrm>
            <a:off x="640035" y="4300984"/>
            <a:ext cx="62335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NAME</a:t>
            </a:r>
            <a:endParaRPr lang="en-US" sz="1040" dirty="0"/>
          </a:p>
        </p:txBody>
      </p:sp>
      <p:sp>
        <p:nvSpPr>
          <p:cNvPr id="14" name="Text 9"/>
          <p:cNvSpPr/>
          <p:nvPr/>
        </p:nvSpPr>
        <p:spPr>
          <a:xfrm>
            <a:off x="640035" y="4524226"/>
            <a:ext cx="126367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 err="1">
                <a:solidFill>
                  <a:srgbClr val="D8E2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NorAQI</a:t>
            </a:r>
            <a:endParaRPr lang="en-US" sz="1120" dirty="0"/>
          </a:p>
        </p:txBody>
      </p:sp>
      <p:sp>
        <p:nvSpPr>
          <p:cNvPr id="15" name="Text 10"/>
          <p:cNvSpPr/>
          <p:nvPr/>
        </p:nvSpPr>
        <p:spPr>
          <a:xfrm>
            <a:off x="1933873" y="4413192"/>
            <a:ext cx="134986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Aft>
                <a:spcPts val="527"/>
              </a:spcAft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MEMBER</a:t>
            </a:r>
            <a:endParaRPr lang="en-US" sz="1040" dirty="0"/>
          </a:p>
          <a:p>
            <a:pPr marL="0" indent="0" algn="l">
              <a:spcAft>
                <a:spcPts val="527"/>
              </a:spcAft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endParaRPr lang="en-US" sz="1040" dirty="0"/>
          </a:p>
        </p:txBody>
      </p:sp>
      <p:sp>
        <p:nvSpPr>
          <p:cNvPr id="16" name="Text 11"/>
          <p:cNvSpPr/>
          <p:nvPr/>
        </p:nvSpPr>
        <p:spPr>
          <a:xfrm>
            <a:off x="1933873" y="4467672"/>
            <a:ext cx="1805007" cy="334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D8E2DB"/>
                </a:solidFill>
                <a:latin typeface="Aptos" pitchFamily="34" charset="0"/>
              </a:rPr>
              <a:t>Suraj Maharana</a:t>
            </a:r>
            <a:endParaRPr lang="en-US" sz="1120" dirty="0"/>
          </a:p>
        </p:txBody>
      </p:sp>
      <p:sp>
        <p:nvSpPr>
          <p:cNvPr id="17" name="Text 12"/>
          <p:cNvSpPr/>
          <p:nvPr/>
        </p:nvSpPr>
        <p:spPr>
          <a:xfrm>
            <a:off x="3577828" y="4300984"/>
            <a:ext cx="17085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endParaRPr lang="en-US" sz="1040" dirty="0"/>
          </a:p>
        </p:txBody>
      </p:sp>
      <p:sp>
        <p:nvSpPr>
          <p:cNvPr id="18" name="Text 13"/>
          <p:cNvSpPr/>
          <p:nvPr/>
        </p:nvSpPr>
        <p:spPr>
          <a:xfrm>
            <a:off x="3577828" y="4524226"/>
            <a:ext cx="143915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20" dirty="0"/>
          </a:p>
        </p:txBody>
      </p:sp>
      <p:sp>
        <p:nvSpPr>
          <p:cNvPr id="20" name="Text 15"/>
          <p:cNvSpPr/>
          <p:nvPr/>
        </p:nvSpPr>
        <p:spPr>
          <a:xfrm>
            <a:off x="7195468" y="4544839"/>
            <a:ext cx="175819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35" y="340965"/>
            <a:ext cx="15045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CONTEXT</a:t>
            </a:r>
            <a:endParaRPr lang="en-US" sz="1040" dirty="0"/>
          </a:p>
        </p:txBody>
      </p:sp>
      <p:sp>
        <p:nvSpPr>
          <p:cNvPr id="4" name="Text 1"/>
          <p:cNvSpPr/>
          <p:nvPr/>
        </p:nvSpPr>
        <p:spPr>
          <a:xfrm>
            <a:off x="640035" y="548580"/>
            <a:ext cx="2764371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60" b="1" kern="0" spc="-168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3060" dirty="0"/>
          </a:p>
        </p:txBody>
      </p:sp>
      <p:sp>
        <p:nvSpPr>
          <p:cNvPr id="5" name="Shape 2"/>
          <p:cNvSpPr/>
          <p:nvPr/>
        </p:nvSpPr>
        <p:spPr>
          <a:xfrm>
            <a:off x="5891026" y="475394"/>
            <a:ext cx="57150" cy="5715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Text 3"/>
          <p:cNvSpPr/>
          <p:nvPr/>
        </p:nvSpPr>
        <p:spPr>
          <a:xfrm>
            <a:off x="6020172" y="416198"/>
            <a:ext cx="32860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3A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quality is local. Guidance should be too.</a:t>
            </a:r>
            <a:endParaRPr lang="en-US" sz="970" dirty="0"/>
          </a:p>
        </p:txBody>
      </p:sp>
      <p:sp>
        <p:nvSpPr>
          <p:cNvPr id="7" name="Shape 4"/>
          <p:cNvSpPr/>
          <p:nvPr/>
        </p:nvSpPr>
        <p:spPr>
          <a:xfrm>
            <a:off x="640519" y="1492002"/>
            <a:ext cx="1862137" cy="1747838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8080" y="1679600"/>
            <a:ext cx="319088" cy="319088"/>
          </a:xfrm>
          <a:prstGeom prst="roundRect">
            <a:avLst>
              <a:gd name="adj" fmla="val 22925"/>
            </a:avLst>
          </a:prstGeom>
          <a:solidFill>
            <a:srgbClr val="FF9800"/>
          </a:solidFill>
          <a:ln/>
        </p:spPr>
      </p:sp>
      <p:sp>
        <p:nvSpPr>
          <p:cNvPr id="9" name="Text 6"/>
          <p:cNvSpPr/>
          <p:nvPr/>
        </p:nvSpPr>
        <p:spPr>
          <a:xfrm>
            <a:off x="882997" y="1711449"/>
            <a:ext cx="32908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144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827633" y="2232496"/>
            <a:ext cx="99309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Limited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827633" y="2443683"/>
            <a:ext cx="13996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hyperlocal</a:t>
            </a:r>
            <a:endParaRPr lang="en-US" sz="1580" dirty="0"/>
          </a:p>
        </p:txBody>
      </p:sp>
      <p:sp>
        <p:nvSpPr>
          <p:cNvPr id="12" name="Text 9"/>
          <p:cNvSpPr/>
          <p:nvPr/>
        </p:nvSpPr>
        <p:spPr>
          <a:xfrm>
            <a:off x="827633" y="2654871"/>
            <a:ext cx="11907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pollution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827633" y="2866058"/>
            <a:ext cx="15186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monitoring.</a:t>
            </a:r>
            <a:endParaRPr lang="en-US" sz="1580" dirty="0"/>
          </a:p>
        </p:txBody>
      </p:sp>
      <p:sp>
        <p:nvSpPr>
          <p:cNvPr id="14" name="Shape 11"/>
          <p:cNvSpPr/>
          <p:nvPr/>
        </p:nvSpPr>
        <p:spPr>
          <a:xfrm>
            <a:off x="826666" y="3254908"/>
            <a:ext cx="276225" cy="1905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Shape 12"/>
          <p:cNvSpPr/>
          <p:nvPr/>
        </p:nvSpPr>
        <p:spPr>
          <a:xfrm>
            <a:off x="2640769" y="1492002"/>
            <a:ext cx="1862137" cy="1747838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28330" y="1679600"/>
            <a:ext cx="319088" cy="319088"/>
          </a:xfrm>
          <a:prstGeom prst="roundRect">
            <a:avLst>
              <a:gd name="adj" fmla="val 22925"/>
            </a:avLst>
          </a:prstGeom>
          <a:solidFill>
            <a:srgbClr val="F44336"/>
          </a:solidFill>
          <a:ln/>
        </p:spPr>
      </p:sp>
      <p:sp>
        <p:nvSpPr>
          <p:cNvPr id="17" name="Text 14"/>
          <p:cNvSpPr/>
          <p:nvPr/>
        </p:nvSpPr>
        <p:spPr>
          <a:xfrm>
            <a:off x="2883247" y="1711449"/>
            <a:ext cx="32908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2827883" y="2232496"/>
            <a:ext cx="17259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Citizens have</a:t>
            </a:r>
            <a:endParaRPr lang="en-US" sz="1580" dirty="0"/>
          </a:p>
        </p:txBody>
      </p:sp>
      <p:sp>
        <p:nvSpPr>
          <p:cNvPr id="19" name="Text 16"/>
          <p:cNvSpPr/>
          <p:nvPr/>
        </p:nvSpPr>
        <p:spPr>
          <a:xfrm>
            <a:off x="2827883" y="2443683"/>
            <a:ext cx="126134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simple</a:t>
            </a:r>
            <a:endParaRPr lang="en-US" sz="1580" dirty="0"/>
          </a:p>
        </p:txBody>
      </p:sp>
      <p:sp>
        <p:nvSpPr>
          <p:cNvPr id="20" name="Text 17"/>
          <p:cNvSpPr/>
          <p:nvPr/>
        </p:nvSpPr>
        <p:spPr>
          <a:xfrm>
            <a:off x="2827883" y="2654871"/>
            <a:ext cx="14845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to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2827883" y="2866058"/>
            <a:ext cx="85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</a:t>
            </a:r>
            <a:endParaRPr lang="en-US" sz="1580" dirty="0"/>
          </a:p>
        </p:txBody>
      </p:sp>
      <p:sp>
        <p:nvSpPr>
          <p:cNvPr id="22" name="Text 19"/>
          <p:cNvSpPr/>
          <p:nvPr/>
        </p:nvSpPr>
        <p:spPr>
          <a:xfrm>
            <a:off x="2827883" y="3077245"/>
            <a:ext cx="11907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pollution</a:t>
            </a:r>
            <a:endParaRPr lang="en-US" sz="1580" dirty="0"/>
          </a:p>
        </p:txBody>
      </p:sp>
      <p:sp>
        <p:nvSpPr>
          <p:cNvPr id="23" name="Text 20"/>
          <p:cNvSpPr/>
          <p:nvPr/>
        </p:nvSpPr>
        <p:spPr>
          <a:xfrm>
            <a:off x="2827883" y="3288432"/>
            <a:ext cx="1316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incidents.</a:t>
            </a:r>
            <a:endParaRPr lang="en-US" sz="1580" dirty="0"/>
          </a:p>
        </p:txBody>
      </p:sp>
      <p:sp>
        <p:nvSpPr>
          <p:cNvPr id="24" name="Shape 21"/>
          <p:cNvSpPr/>
          <p:nvPr/>
        </p:nvSpPr>
        <p:spPr>
          <a:xfrm>
            <a:off x="2826916" y="3677283"/>
            <a:ext cx="276225" cy="1905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5" name="Shape 22"/>
          <p:cNvSpPr/>
          <p:nvPr/>
        </p:nvSpPr>
        <p:spPr>
          <a:xfrm>
            <a:off x="4641019" y="1492002"/>
            <a:ext cx="1862137" cy="1747838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28580" y="1679600"/>
            <a:ext cx="319088" cy="319088"/>
          </a:xfrm>
          <a:prstGeom prst="roundRect">
            <a:avLst>
              <a:gd name="adj" fmla="val 22925"/>
            </a:avLst>
          </a:prstGeom>
          <a:solidFill>
            <a:srgbClr val="7B1FA2"/>
          </a:solidFill>
          <a:ln/>
        </p:spPr>
      </p:sp>
      <p:sp>
        <p:nvSpPr>
          <p:cNvPr id="27" name="Text 24"/>
          <p:cNvSpPr/>
          <p:nvPr/>
        </p:nvSpPr>
        <p:spPr>
          <a:xfrm>
            <a:off x="4883497" y="1711449"/>
            <a:ext cx="32908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4828133" y="2232496"/>
            <a:ext cx="14063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Official AQI</a:t>
            </a:r>
            <a:endParaRPr lang="en-US" sz="1580" dirty="0"/>
          </a:p>
        </p:txBody>
      </p:sp>
      <p:sp>
        <p:nvSpPr>
          <p:cNvPr id="29" name="Text 26"/>
          <p:cNvSpPr/>
          <p:nvPr/>
        </p:nvSpPr>
        <p:spPr>
          <a:xfrm>
            <a:off x="4828133" y="2443683"/>
            <a:ext cx="16962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updates may</a:t>
            </a:r>
            <a:endParaRPr lang="en-US" sz="1580" dirty="0"/>
          </a:p>
        </p:txBody>
      </p:sp>
      <p:sp>
        <p:nvSpPr>
          <p:cNvPr id="30" name="Text 27"/>
          <p:cNvSpPr/>
          <p:nvPr/>
        </p:nvSpPr>
        <p:spPr>
          <a:xfrm>
            <a:off x="4828133" y="2654871"/>
            <a:ext cx="143006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always</a:t>
            </a:r>
            <a:endParaRPr lang="en-US" sz="1580" dirty="0"/>
          </a:p>
        </p:txBody>
      </p:sp>
      <p:sp>
        <p:nvSpPr>
          <p:cNvPr id="31" name="Text 28"/>
          <p:cNvSpPr/>
          <p:nvPr/>
        </p:nvSpPr>
        <p:spPr>
          <a:xfrm>
            <a:off x="4828133" y="2866058"/>
            <a:ext cx="96542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reflect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4828133" y="3077245"/>
            <a:ext cx="12888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local</a:t>
            </a:r>
            <a:endParaRPr lang="en-US" sz="1580" dirty="0"/>
          </a:p>
        </p:txBody>
      </p:sp>
      <p:sp>
        <p:nvSpPr>
          <p:cNvPr id="33" name="Text 30"/>
          <p:cNvSpPr/>
          <p:nvPr/>
        </p:nvSpPr>
        <p:spPr>
          <a:xfrm>
            <a:off x="4828133" y="3288432"/>
            <a:ext cx="14887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conditions.</a:t>
            </a:r>
            <a:endParaRPr lang="en-US" sz="1580" dirty="0"/>
          </a:p>
        </p:txBody>
      </p:sp>
      <p:sp>
        <p:nvSpPr>
          <p:cNvPr id="34" name="Shape 31"/>
          <p:cNvSpPr/>
          <p:nvPr/>
        </p:nvSpPr>
        <p:spPr>
          <a:xfrm>
            <a:off x="4827166" y="3677283"/>
            <a:ext cx="276225" cy="1905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5" name="Shape 32"/>
          <p:cNvSpPr/>
          <p:nvPr/>
        </p:nvSpPr>
        <p:spPr>
          <a:xfrm>
            <a:off x="6641306" y="1492002"/>
            <a:ext cx="1862137" cy="1747838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28830" y="1679600"/>
            <a:ext cx="319088" cy="319088"/>
          </a:xfrm>
          <a:prstGeom prst="roundRect">
            <a:avLst>
              <a:gd name="adj" fmla="val 22925"/>
            </a:avLst>
          </a:prstGeom>
          <a:solidFill>
            <a:srgbClr val="00C853"/>
          </a:solidFill>
          <a:ln/>
        </p:spPr>
      </p:sp>
      <p:sp>
        <p:nvSpPr>
          <p:cNvPr id="37" name="Text 34"/>
          <p:cNvSpPr/>
          <p:nvPr/>
        </p:nvSpPr>
        <p:spPr>
          <a:xfrm>
            <a:off x="6883747" y="1711449"/>
            <a:ext cx="32908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144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40" dirty="0"/>
          </a:p>
        </p:txBody>
      </p:sp>
      <p:sp>
        <p:nvSpPr>
          <p:cNvPr id="38" name="Text 35"/>
          <p:cNvSpPr/>
          <p:nvPr/>
        </p:nvSpPr>
        <p:spPr>
          <a:xfrm>
            <a:off x="6828383" y="2232496"/>
            <a:ext cx="18918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 receive</a:t>
            </a:r>
            <a:endParaRPr lang="en-US" sz="1580" dirty="0"/>
          </a:p>
        </p:txBody>
      </p:sp>
      <p:sp>
        <p:nvSpPr>
          <p:cNvPr id="39" name="Text 36"/>
          <p:cNvSpPr/>
          <p:nvPr/>
        </p:nvSpPr>
        <p:spPr>
          <a:xfrm>
            <a:off x="6828383" y="2443683"/>
            <a:ext cx="6183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little</a:t>
            </a:r>
            <a:endParaRPr lang="en-US" sz="1580" dirty="0"/>
          </a:p>
        </p:txBody>
      </p:sp>
      <p:sp>
        <p:nvSpPr>
          <p:cNvPr id="40" name="Text 37"/>
          <p:cNvSpPr/>
          <p:nvPr/>
        </p:nvSpPr>
        <p:spPr>
          <a:xfrm>
            <a:off x="6828383" y="2654871"/>
            <a:ext cx="16730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personalized</a:t>
            </a:r>
            <a:endParaRPr lang="en-US" sz="1580" dirty="0"/>
          </a:p>
        </p:txBody>
      </p:sp>
      <p:sp>
        <p:nvSpPr>
          <p:cNvPr id="41" name="Text 38"/>
          <p:cNvSpPr/>
          <p:nvPr/>
        </p:nvSpPr>
        <p:spPr>
          <a:xfrm>
            <a:off x="6828383" y="2866058"/>
            <a:ext cx="186693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environmental</a:t>
            </a:r>
            <a:endParaRPr lang="en-US" sz="1580" dirty="0"/>
          </a:p>
        </p:txBody>
      </p:sp>
      <p:sp>
        <p:nvSpPr>
          <p:cNvPr id="42" name="Text 39"/>
          <p:cNvSpPr/>
          <p:nvPr/>
        </p:nvSpPr>
        <p:spPr>
          <a:xfrm>
            <a:off x="6828383" y="3077245"/>
            <a:ext cx="13114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guidance.</a:t>
            </a:r>
            <a:endParaRPr lang="en-US" sz="1580" dirty="0"/>
          </a:p>
        </p:txBody>
      </p:sp>
      <p:sp>
        <p:nvSpPr>
          <p:cNvPr id="43" name="Shape 40"/>
          <p:cNvSpPr/>
          <p:nvPr/>
        </p:nvSpPr>
        <p:spPr>
          <a:xfrm>
            <a:off x="6827416" y="3466095"/>
            <a:ext cx="276225" cy="1905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4" name="Shape 41"/>
          <p:cNvSpPr/>
          <p:nvPr/>
        </p:nvSpPr>
        <p:spPr>
          <a:xfrm>
            <a:off x="640556" y="4020257"/>
            <a:ext cx="7862887" cy="609600"/>
          </a:xfrm>
          <a:prstGeom prst="rect">
            <a:avLst/>
          </a:prstGeom>
          <a:ln/>
        </p:spPr>
      </p:sp>
      <p:sp>
        <p:nvSpPr>
          <p:cNvPr id="45" name="Shape 42"/>
          <p:cNvSpPr/>
          <p:nvPr/>
        </p:nvSpPr>
        <p:spPr>
          <a:xfrm>
            <a:off x="640482" y="4364459"/>
            <a:ext cx="90488" cy="9048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46" name="Text 43"/>
          <p:cNvSpPr/>
          <p:nvPr/>
        </p:nvSpPr>
        <p:spPr>
          <a:xfrm>
            <a:off x="868561" y="4175968"/>
            <a:ext cx="795341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a need for an intelligent, citizen-driven air quality monitoring</a:t>
            </a:r>
            <a:endParaRPr lang="en-US" sz="1440" dirty="0"/>
          </a:p>
        </p:txBody>
      </p:sp>
      <p:sp>
        <p:nvSpPr>
          <p:cNvPr id="47" name="Text 44"/>
          <p:cNvSpPr/>
          <p:nvPr/>
        </p:nvSpPr>
        <p:spPr>
          <a:xfrm>
            <a:off x="868561" y="4395415"/>
            <a:ext cx="280529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powered by AI.</a:t>
            </a:r>
            <a:endParaRPr lang="en-US" sz="144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56" y="4020257"/>
            <a:ext cx="7862887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5218"/>
            <a:ext cx="219380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PRODUCT LOGIC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40035" y="311279"/>
            <a:ext cx="2743572" cy="70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60" b="1" kern="0" spc="-168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60" dirty="0"/>
          </a:p>
        </p:txBody>
      </p:sp>
      <p:sp>
        <p:nvSpPr>
          <p:cNvPr id="5" name="Text 3"/>
          <p:cNvSpPr/>
          <p:nvPr/>
        </p:nvSpPr>
        <p:spPr>
          <a:xfrm>
            <a:off x="657570" y="837916"/>
            <a:ext cx="510282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40" kern="0" spc="167" dirty="0">
                <a:solidFill>
                  <a:srgbClr val="93A09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CITIZEN SIGNAL TO ACTIONABLE GUIDANCE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640482" y="1002954"/>
            <a:ext cx="4662488" cy="439922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7633" y="577602"/>
            <a:ext cx="1665046" cy="1332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Citizen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4924276" y="1158696"/>
            <a:ext cx="30615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75955" y="1981349"/>
            <a:ext cx="30615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7570" y="2182204"/>
            <a:ext cx="4662488" cy="461962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827633" y="1002954"/>
            <a:ext cx="2555974" cy="1626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DFF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NorAQI Dashboard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4943609" y="1723811"/>
            <a:ext cx="90488" cy="9048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3" name="Text 11"/>
          <p:cNvSpPr/>
          <p:nvPr/>
        </p:nvSpPr>
        <p:spPr>
          <a:xfrm>
            <a:off x="2875955" y="2588555"/>
            <a:ext cx="30615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942" y="2833310"/>
            <a:ext cx="4662488" cy="461962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827633" y="1525652"/>
            <a:ext cx="2194002" cy="182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Gemini AI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4960888" y="2406680"/>
            <a:ext cx="90488" cy="90488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2902828" y="3222261"/>
            <a:ext cx="30615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942" y="1567244"/>
            <a:ext cx="4662488" cy="461962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633" y="1977078"/>
            <a:ext cx="3400812" cy="2163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Weather + Official AQI</a:t>
            </a:r>
            <a:endParaRPr lang="en-US" sz="1620" dirty="0"/>
          </a:p>
        </p:txBody>
      </p:sp>
      <p:sp>
        <p:nvSpPr>
          <p:cNvPr id="20" name="Shape 18"/>
          <p:cNvSpPr/>
          <p:nvPr/>
        </p:nvSpPr>
        <p:spPr>
          <a:xfrm>
            <a:off x="4960888" y="3027592"/>
            <a:ext cx="90488" cy="9048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2875955" y="1374143"/>
            <a:ext cx="30615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942" y="4087958"/>
            <a:ext cx="4662488" cy="461962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7633" y="2782940"/>
            <a:ext cx="2942369" cy="171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AI-generated Advisory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4960888" y="4273695"/>
            <a:ext cx="90488" cy="9048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5" name="Text 23"/>
          <p:cNvSpPr/>
          <p:nvPr/>
        </p:nvSpPr>
        <p:spPr>
          <a:xfrm>
            <a:off x="2902828" y="3848138"/>
            <a:ext cx="30615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35" y="3459352"/>
            <a:ext cx="4662488" cy="461962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7633" y="3647616"/>
            <a:ext cx="2825122" cy="1423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Citizens &amp; Authorities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4987381" y="3641305"/>
            <a:ext cx="90488" cy="90488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129" y="1266825"/>
            <a:ext cx="20602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40" kern="0" spc="167" dirty="0">
                <a:solidFill>
                  <a:srgbClr val="93A09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CAPABILITIES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036059" y="1546250"/>
            <a:ext cx="2466975" cy="50482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903" y="1758144"/>
            <a:ext cx="80962" cy="8096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490" y="1684734"/>
            <a:ext cx="142483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Weather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6059" y="2126531"/>
            <a:ext cx="2466975" cy="50482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3903" y="2338425"/>
            <a:ext cx="80962" cy="8096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5" name="Text 33"/>
          <p:cNvSpPr/>
          <p:nvPr/>
        </p:nvSpPr>
        <p:spPr>
          <a:xfrm>
            <a:off x="6373490" y="2265015"/>
            <a:ext cx="247396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AQI Monitoring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6059" y="2706439"/>
            <a:ext cx="2466975" cy="75247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456" y="3042158"/>
            <a:ext cx="76200" cy="80962"/>
          </a:xfrm>
          <a:prstGeom prst="roundRect">
            <a:avLst>
              <a:gd name="adj" fmla="val 50000"/>
            </a:avLst>
          </a:prstGeom>
          <a:solidFill>
            <a:srgbClr val="F44336"/>
          </a:solidFill>
          <a:ln/>
        </p:spPr>
      </p:sp>
      <p:sp>
        <p:nvSpPr>
          <p:cNvPr id="38" name="Text 36"/>
          <p:cNvSpPr/>
          <p:nvPr/>
        </p:nvSpPr>
        <p:spPr>
          <a:xfrm>
            <a:off x="6367835" y="2845296"/>
            <a:ext cx="1763420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Pollution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6059" y="3533626"/>
            <a:ext cx="2466975" cy="75247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2489" y="3869345"/>
            <a:ext cx="76200" cy="80962"/>
          </a:xfrm>
          <a:prstGeom prst="roundRect">
            <a:avLst>
              <a:gd name="adj" fmla="val 50000"/>
            </a:avLst>
          </a:prstGeom>
          <a:solidFill>
            <a:srgbClr val="7B1FA2"/>
          </a:solidFill>
          <a:ln/>
        </p:spPr>
      </p:sp>
      <p:sp>
        <p:nvSpPr>
          <p:cNvPr id="41" name="Text 39"/>
          <p:cNvSpPr/>
          <p:nvPr/>
        </p:nvSpPr>
        <p:spPr>
          <a:xfrm>
            <a:off x="6365900" y="3672483"/>
            <a:ext cx="2023259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Report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6059" y="4360813"/>
            <a:ext cx="2466975" cy="752475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233" y="4696532"/>
            <a:ext cx="61912" cy="80962"/>
          </a:xfrm>
          <a:prstGeom prst="roundRect">
            <a:avLst>
              <a:gd name="adj" fmla="val 50000"/>
            </a:avLst>
          </a:prstGeom>
          <a:solidFill>
            <a:srgbClr val="7BE19B"/>
          </a:solidFill>
          <a:ln/>
        </p:spPr>
      </p:sp>
      <p:sp>
        <p:nvSpPr>
          <p:cNvPr id="44" name="Text 42"/>
          <p:cNvSpPr/>
          <p:nvPr/>
        </p:nvSpPr>
        <p:spPr>
          <a:xfrm>
            <a:off x="6353101" y="4499670"/>
            <a:ext cx="2597594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Air Quality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35" y="315218"/>
            <a:ext cx="11824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BUILD</a:t>
            </a:r>
            <a:endParaRPr lang="en-US" sz="1040" dirty="0"/>
          </a:p>
        </p:txBody>
      </p:sp>
      <p:sp>
        <p:nvSpPr>
          <p:cNvPr id="4" name="Text 1"/>
          <p:cNvSpPr/>
          <p:nvPr/>
        </p:nvSpPr>
        <p:spPr>
          <a:xfrm>
            <a:off x="640035" y="522833"/>
            <a:ext cx="3990238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60" b="1" kern="0" spc="-168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060" dirty="0"/>
          </a:p>
        </p:txBody>
      </p:sp>
      <p:sp>
        <p:nvSpPr>
          <p:cNvPr id="5" name="Text 2"/>
          <p:cNvSpPr/>
          <p:nvPr/>
        </p:nvSpPr>
        <p:spPr>
          <a:xfrm>
            <a:off x="6180088" y="390525"/>
            <a:ext cx="3078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8D99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a fast, transparent prototype</a:t>
            </a:r>
            <a:endParaRPr lang="en-US" sz="1040" dirty="0"/>
          </a:p>
        </p:txBody>
      </p:sp>
      <p:sp>
        <p:nvSpPr>
          <p:cNvPr id="6" name="Shape 3"/>
          <p:cNvSpPr/>
          <p:nvPr/>
        </p:nvSpPr>
        <p:spPr>
          <a:xfrm>
            <a:off x="640519" y="1286433"/>
            <a:ext cx="2528888" cy="1276350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7633" y="1454423"/>
            <a:ext cx="24859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TECHNOLOGIES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827633" y="1779389"/>
            <a:ext cx="13865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620" dirty="0"/>
          </a:p>
        </p:txBody>
      </p:sp>
      <p:sp>
        <p:nvSpPr>
          <p:cNvPr id="9" name="Text 6"/>
          <p:cNvSpPr/>
          <p:nvPr/>
        </p:nvSpPr>
        <p:spPr>
          <a:xfrm>
            <a:off x="827633" y="2145283"/>
            <a:ext cx="16951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260" dirty="0">
                <a:solidFill>
                  <a:srgbClr val="B8C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AI Studio</a:t>
            </a:r>
            <a:endParaRPr lang="en-US" sz="1260" dirty="0"/>
          </a:p>
        </p:txBody>
      </p:sp>
      <p:sp>
        <p:nvSpPr>
          <p:cNvPr id="10" name="Shape 7"/>
          <p:cNvSpPr/>
          <p:nvPr/>
        </p:nvSpPr>
        <p:spPr>
          <a:xfrm>
            <a:off x="3307519" y="1286433"/>
            <a:ext cx="2528888" cy="1276350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94633" y="1454423"/>
            <a:ext cx="11361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FFB7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3494633" y="1779389"/>
            <a:ext cx="12417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Streamlit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3494633" y="2145283"/>
            <a:ext cx="138565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260" dirty="0">
                <a:solidFill>
                  <a:srgbClr val="B8C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5974519" y="1286433"/>
            <a:ext cx="2528888" cy="1276350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61633" y="1454423"/>
            <a:ext cx="101157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CE93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161633" y="1779389"/>
            <a:ext cx="99783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6161633" y="2145283"/>
            <a:ext cx="16670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260" dirty="0">
                <a:solidFill>
                  <a:srgbClr val="B8C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logic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40519" y="2701044"/>
            <a:ext cx="2528888" cy="1276350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7633" y="2869034"/>
            <a:ext cx="112601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LIBRARIES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827633" y="3194000"/>
            <a:ext cx="99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Pandas</a:t>
            </a:r>
            <a:endParaRPr lang="en-US" sz="1620" dirty="0"/>
          </a:p>
        </p:txBody>
      </p:sp>
      <p:sp>
        <p:nvSpPr>
          <p:cNvPr id="21" name="Text 18"/>
          <p:cNvSpPr/>
          <p:nvPr/>
        </p:nvSpPr>
        <p:spPr>
          <a:xfrm>
            <a:off x="827633" y="3559894"/>
            <a:ext cx="95159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260" dirty="0">
                <a:solidFill>
                  <a:srgbClr val="B8C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1260" dirty="0"/>
          </a:p>
        </p:txBody>
      </p:sp>
      <p:sp>
        <p:nvSpPr>
          <p:cNvPr id="22" name="Shape 19"/>
          <p:cNvSpPr/>
          <p:nvPr/>
        </p:nvSpPr>
        <p:spPr>
          <a:xfrm>
            <a:off x="3307519" y="2701044"/>
            <a:ext cx="5195887" cy="1276350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94633" y="2869034"/>
            <a:ext cx="27115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F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EXTERNAL DATA SOURCES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3494633" y="3194000"/>
            <a:ext cx="21320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Open-Meteo API</a:t>
            </a:r>
            <a:endParaRPr lang="en-US" sz="1620" dirty="0"/>
          </a:p>
        </p:txBody>
      </p:sp>
      <p:sp>
        <p:nvSpPr>
          <p:cNvPr id="25" name="Text 22"/>
          <p:cNvSpPr/>
          <p:nvPr/>
        </p:nvSpPr>
        <p:spPr>
          <a:xfrm>
            <a:off x="3494633" y="3559894"/>
            <a:ext cx="20339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260" dirty="0">
                <a:solidFill>
                  <a:srgbClr val="B8C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weather signals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5456486" y="3194000"/>
            <a:ext cx="91038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OSPCB</a:t>
            </a:r>
            <a:endParaRPr lang="en-US" sz="1620" dirty="0"/>
          </a:p>
        </p:txBody>
      </p:sp>
      <p:sp>
        <p:nvSpPr>
          <p:cNvPr id="27" name="Text 24"/>
          <p:cNvSpPr/>
          <p:nvPr/>
        </p:nvSpPr>
        <p:spPr>
          <a:xfrm>
            <a:off x="5456486" y="3559894"/>
            <a:ext cx="21416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260" dirty="0">
                <a:solidFill>
                  <a:srgbClr val="B8C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AQI reference</a:t>
            </a:r>
            <a:endParaRPr lang="en-US" sz="1260" dirty="0"/>
          </a:p>
        </p:txBody>
      </p:sp>
      <p:sp>
        <p:nvSpPr>
          <p:cNvPr id="28" name="Shape 25"/>
          <p:cNvSpPr/>
          <p:nvPr/>
        </p:nvSpPr>
        <p:spPr>
          <a:xfrm>
            <a:off x="640556" y="4104940"/>
            <a:ext cx="7862887" cy="576262"/>
          </a:xfrm>
          <a:prstGeom prst="rect">
            <a:avLst/>
          </a:prstGeom>
          <a:ln/>
        </p:spPr>
      </p:sp>
      <p:sp>
        <p:nvSpPr>
          <p:cNvPr id="29" name="Shape 26"/>
          <p:cNvSpPr/>
          <p:nvPr/>
        </p:nvSpPr>
        <p:spPr>
          <a:xfrm>
            <a:off x="640221" y="4437199"/>
            <a:ext cx="76200" cy="80962"/>
          </a:xfrm>
          <a:prstGeom prst="roundRect">
            <a:avLst>
              <a:gd name="adj" fmla="val 50000"/>
            </a:avLst>
          </a:prstGeom>
          <a:solidFill>
            <a:srgbClr val="7B1FA2"/>
          </a:solidFill>
          <a:ln/>
        </p:spPr>
      </p:sp>
      <p:sp>
        <p:nvSpPr>
          <p:cNvPr id="30" name="Text 27"/>
          <p:cNvSpPr/>
          <p:nvPr/>
        </p:nvSpPr>
        <p:spPr>
          <a:xfrm>
            <a:off x="826294" y="4260503"/>
            <a:ext cx="96198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is used to analyze pollution reports, classify incidents, and generate contextual</a:t>
            </a:r>
            <a:endParaRPr lang="en-US" sz="1330" dirty="0"/>
          </a:p>
        </p:txBody>
      </p:sp>
      <p:sp>
        <p:nvSpPr>
          <p:cNvPr id="31" name="Text 28"/>
          <p:cNvSpPr/>
          <p:nvPr/>
        </p:nvSpPr>
        <p:spPr>
          <a:xfrm>
            <a:off x="826294" y="4463430"/>
            <a:ext cx="1158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advisories.</a:t>
            </a:r>
            <a:endParaRPr lang="en-US" sz="133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56" y="4104940"/>
            <a:ext cx="7862887" cy="5762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5218"/>
            <a:ext cx="22885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DEMONSTRATION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40035" y="522833"/>
            <a:ext cx="5210302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60" b="1" kern="0" spc="-168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Prototype Walkthrough</a:t>
            </a:r>
            <a:endParaRPr lang="en-US" sz="3060" dirty="0"/>
          </a:p>
        </p:txBody>
      </p:sp>
      <p:sp>
        <p:nvSpPr>
          <p:cNvPr id="5" name="Text 3"/>
          <p:cNvSpPr/>
          <p:nvPr/>
        </p:nvSpPr>
        <p:spPr>
          <a:xfrm>
            <a:off x="5655171" y="390525"/>
            <a:ext cx="376058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8D99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two-minute path from observation to action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640035" y="1266825"/>
            <a:ext cx="16390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40" kern="0" spc="167" dirty="0">
                <a:solidFill>
                  <a:srgbClr val="93A09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SIX-STEP FLOW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39552" y="1548110"/>
            <a:ext cx="2195513" cy="347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501" y="1621892"/>
            <a:ext cx="200025" cy="200025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9" name="Text 7"/>
          <p:cNvSpPr/>
          <p:nvPr/>
        </p:nvSpPr>
        <p:spPr>
          <a:xfrm>
            <a:off x="849809" y="1640904"/>
            <a:ext cx="1421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71" y="1605930"/>
            <a:ext cx="125186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City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722263" y="1869877"/>
            <a:ext cx="2264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39552" y="2067520"/>
            <a:ext cx="2195513" cy="347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501" y="2141302"/>
            <a:ext cx="200025" cy="200025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849809" y="2160315"/>
            <a:ext cx="1421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2771" y="2125340"/>
            <a:ext cx="202480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View Live Weather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22263" y="2389287"/>
            <a:ext cx="2264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39552" y="2586930"/>
            <a:ext cx="2195513" cy="347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501" y="2660712"/>
            <a:ext cx="200025" cy="20002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849809" y="2679725"/>
            <a:ext cx="1421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771" y="2644750"/>
            <a:ext cx="195399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Official AQI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722263" y="2908697"/>
            <a:ext cx="2264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39552" y="3106341"/>
            <a:ext cx="2195513" cy="347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3096" y="3180122"/>
            <a:ext cx="161925" cy="200025"/>
          </a:xfrm>
          <a:prstGeom prst="roundRect">
            <a:avLst>
              <a:gd name="adj" fmla="val 50000"/>
            </a:avLst>
          </a:prstGeom>
          <a:solidFill>
            <a:srgbClr val="F44336"/>
          </a:solidFill>
          <a:ln/>
        </p:spPr>
      </p:sp>
      <p:sp>
        <p:nvSpPr>
          <p:cNvPr id="24" name="Text 22"/>
          <p:cNvSpPr/>
          <p:nvPr/>
        </p:nvSpPr>
        <p:spPr>
          <a:xfrm>
            <a:off x="831354" y="3199135"/>
            <a:ext cx="1421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5861" y="3033861"/>
            <a:ext cx="1858030" cy="484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Submit Pollution</a:t>
            </a:r>
            <a:endParaRPr lang="en-US" sz="137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722263" y="3428107"/>
            <a:ext cx="2264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39552" y="3625751"/>
            <a:ext cx="2195513" cy="347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2501" y="3699532"/>
            <a:ext cx="200025" cy="200025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9" name="Text 27"/>
          <p:cNvSpPr/>
          <p:nvPr/>
        </p:nvSpPr>
        <p:spPr>
          <a:xfrm>
            <a:off x="849809" y="3718545"/>
            <a:ext cx="1421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71" y="3683571"/>
            <a:ext cx="200420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AI Analysis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722263" y="3947517"/>
            <a:ext cx="2264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C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639552" y="4145161"/>
            <a:ext cx="2195513" cy="347663"/>
          </a:xfrm>
          <a:prstGeom prst="rect">
            <a:avLst/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2724" y="4218942"/>
            <a:ext cx="185738" cy="200025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/>
        </p:spPr>
      </p:sp>
      <p:sp>
        <p:nvSpPr>
          <p:cNvPr id="34" name="Text 32"/>
          <p:cNvSpPr/>
          <p:nvPr/>
        </p:nvSpPr>
        <p:spPr>
          <a:xfrm>
            <a:off x="842888" y="4237955"/>
            <a:ext cx="1421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29" y="4072682"/>
            <a:ext cx="1301881" cy="484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 AI</a:t>
            </a:r>
            <a:endParaRPr lang="en-US" sz="137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Advisory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3931965" y="1266825"/>
            <a:ext cx="23940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40" kern="0" spc="167" dirty="0">
                <a:solidFill>
                  <a:srgbClr val="93A09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 SCREENS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3930997" y="1546101"/>
            <a:ext cx="2219325" cy="1133475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85570" y="1546101"/>
            <a:ext cx="2219325" cy="1133475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930997" y="2814786"/>
            <a:ext cx="2219325" cy="1133475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028629" y="2912418"/>
            <a:ext cx="2024062" cy="938212"/>
          </a:xfrm>
          <a:prstGeom prst="rect">
            <a:avLst/>
          </a:prstGeom>
          <a:solidFill>
            <a:srgbClr val="202823"/>
          </a:solidFill>
          <a:ln w="4763">
            <a:solidFill>
              <a:srgbClr val="607067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134334" y="3017639"/>
            <a:ext cx="638175" cy="90488"/>
          </a:xfrm>
          <a:prstGeom prst="roundRect">
            <a:avLst>
              <a:gd name="adj" fmla="val 50000"/>
            </a:avLst>
          </a:prstGeom>
          <a:solidFill>
            <a:srgbClr val="F44335">
              <a:alpha val="74902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133404" y="3186596"/>
            <a:ext cx="1814513" cy="152400"/>
          </a:xfrm>
          <a:prstGeom prst="rect">
            <a:avLst/>
          </a:prstGeom>
          <a:solidFill>
            <a:srgbClr val="29362E"/>
          </a:solidFill>
          <a:ln/>
        </p:spPr>
      </p:sp>
      <p:sp>
        <p:nvSpPr>
          <p:cNvPr id="54" name="Shape 52"/>
          <p:cNvSpPr/>
          <p:nvPr/>
        </p:nvSpPr>
        <p:spPr>
          <a:xfrm>
            <a:off x="4132920" y="3392277"/>
            <a:ext cx="1452562" cy="152400"/>
          </a:xfrm>
          <a:prstGeom prst="rect">
            <a:avLst/>
          </a:prstGeom>
          <a:solidFill>
            <a:srgbClr val="29362E"/>
          </a:solidFill>
          <a:ln/>
        </p:spPr>
      </p:sp>
      <p:sp>
        <p:nvSpPr>
          <p:cNvPr id="55" name="Shape 53"/>
          <p:cNvSpPr/>
          <p:nvPr/>
        </p:nvSpPr>
        <p:spPr>
          <a:xfrm>
            <a:off x="4133404" y="3597027"/>
            <a:ext cx="1814513" cy="257175"/>
          </a:xfrm>
          <a:prstGeom prst="rect">
            <a:avLst/>
          </a:prstGeom>
          <a:solidFill>
            <a:srgbClr val="29362E"/>
          </a:solidFill>
          <a:ln/>
        </p:spPr>
      </p:sp>
      <p:sp>
        <p:nvSpPr>
          <p:cNvPr id="56" name="Shape 54"/>
          <p:cNvSpPr/>
          <p:nvPr/>
        </p:nvSpPr>
        <p:spPr>
          <a:xfrm>
            <a:off x="6285570" y="2814786"/>
            <a:ext cx="2219325" cy="1133475"/>
          </a:xfrm>
          <a:prstGeom prst="rect">
            <a:avLst/>
          </a:prstGeom>
          <a:solidFill>
            <a:srgbClr val="FFFFFF">
              <a:alpha val="5500"/>
            </a:srgbClr>
          </a:solidFill>
          <a:ln w="4763">
            <a:solidFill>
              <a:srgbClr val="FFFFFF">
                <a:alpha val="14000"/>
              </a:srgbClr>
            </a:solidFill>
            <a:prstDash val="solid"/>
          </a:ln>
          <a:effectLst>
            <a:outerShdw blurRad="274320" dist="109728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83201" y="2912418"/>
            <a:ext cx="2024062" cy="938212"/>
          </a:xfrm>
          <a:prstGeom prst="rect">
            <a:avLst/>
          </a:prstGeom>
          <a:solidFill>
            <a:srgbClr val="202823"/>
          </a:solidFill>
          <a:ln w="4763">
            <a:solidFill>
              <a:srgbClr val="607067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486971" y="3017639"/>
            <a:ext cx="733425" cy="90488"/>
          </a:xfrm>
          <a:prstGeom prst="roundRect">
            <a:avLst>
              <a:gd name="adj" fmla="val 50000"/>
            </a:avLst>
          </a:prstGeom>
          <a:solidFill>
            <a:srgbClr val="7A1FA2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607894" y="3176141"/>
            <a:ext cx="147194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BF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 preview</a:t>
            </a:r>
            <a:endParaRPr lang="en-US" sz="1080" dirty="0"/>
          </a:p>
        </p:txBody>
      </p:sp>
      <p:sp>
        <p:nvSpPr>
          <p:cNvPr id="60" name="Text 58"/>
          <p:cNvSpPr/>
          <p:nvPr/>
        </p:nvSpPr>
        <p:spPr>
          <a:xfrm>
            <a:off x="6607894" y="3347517"/>
            <a:ext cx="104687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BF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3931965" y="4054897"/>
            <a:ext cx="123571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AEB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dashboard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5109195" y="4054897"/>
            <a:ext cx="119227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AEB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+ AQI</a:t>
            </a:r>
            <a:endParaRPr lang="en-US" sz="1010" dirty="0"/>
          </a:p>
        </p:txBody>
      </p:sp>
      <p:sp>
        <p:nvSpPr>
          <p:cNvPr id="63" name="Text 61"/>
          <p:cNvSpPr/>
          <p:nvPr/>
        </p:nvSpPr>
        <p:spPr>
          <a:xfrm>
            <a:off x="6286500" y="4054897"/>
            <a:ext cx="111740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AEB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report</a:t>
            </a:r>
            <a:endParaRPr lang="en-US" sz="1010" dirty="0"/>
          </a:p>
        </p:txBody>
      </p:sp>
      <p:sp>
        <p:nvSpPr>
          <p:cNvPr id="64" name="Text 62"/>
          <p:cNvSpPr/>
          <p:nvPr/>
        </p:nvSpPr>
        <p:spPr>
          <a:xfrm>
            <a:off x="7463805" y="4054897"/>
            <a:ext cx="92024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AEB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advisory</a:t>
            </a:r>
            <a:endParaRPr lang="en-US" sz="1010" dirty="0"/>
          </a:p>
        </p:txBody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976" y="3185592"/>
            <a:ext cx="1814513" cy="3429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003ADE3-5182-F4F1-708A-7CDEAE07C3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89"/>
          <a:stretch>
            <a:fillRect/>
          </a:stretch>
        </p:blipFill>
        <p:spPr>
          <a:xfrm>
            <a:off x="3930997" y="1548110"/>
            <a:ext cx="2219325" cy="113146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224586F-87A7-5F12-B9D5-DCF4C7E28D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592"/>
          <a:stretch>
            <a:fillRect/>
          </a:stretch>
        </p:blipFill>
        <p:spPr>
          <a:xfrm>
            <a:off x="6291156" y="1538734"/>
            <a:ext cx="2213739" cy="11502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5218"/>
            <a:ext cx="10962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kern="0" spc="167" dirty="0">
                <a:solidFill>
                  <a:srgbClr val="7BE1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NEXT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40035" y="522833"/>
            <a:ext cx="4986643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60" b="1" kern="0" spc="-168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 &amp; Future Scope</a:t>
            </a:r>
            <a:endParaRPr lang="en-US" sz="3060" dirty="0"/>
          </a:p>
        </p:txBody>
      </p:sp>
      <p:sp>
        <p:nvSpPr>
          <p:cNvPr id="5" name="Text 3"/>
          <p:cNvSpPr/>
          <p:nvPr/>
        </p:nvSpPr>
        <p:spPr>
          <a:xfrm>
            <a:off x="640035" y="1417290"/>
            <a:ext cx="125109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2160" dirty="0"/>
          </a:p>
        </p:txBody>
      </p:sp>
      <p:sp>
        <p:nvSpPr>
          <p:cNvPr id="6" name="Shape 4"/>
          <p:cNvSpPr/>
          <p:nvPr/>
        </p:nvSpPr>
        <p:spPr>
          <a:xfrm>
            <a:off x="1687376" y="1740880"/>
            <a:ext cx="638175" cy="2381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Shape 5"/>
          <p:cNvSpPr/>
          <p:nvPr/>
        </p:nvSpPr>
        <p:spPr>
          <a:xfrm>
            <a:off x="640891" y="1996343"/>
            <a:ext cx="71438" cy="7143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822871" y="1963936"/>
            <a:ext cx="361818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Encourages citizen participation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640891" y="2368414"/>
            <a:ext cx="71438" cy="7143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0" name="Text 8"/>
          <p:cNvSpPr/>
          <p:nvPr/>
        </p:nvSpPr>
        <p:spPr>
          <a:xfrm>
            <a:off x="822871" y="2336006"/>
            <a:ext cx="292253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pollution reporting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40110" y="2740484"/>
            <a:ext cx="71438" cy="7143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2" name="Text 10"/>
          <p:cNvSpPr/>
          <p:nvPr/>
        </p:nvSpPr>
        <p:spPr>
          <a:xfrm>
            <a:off x="821308" y="2708077"/>
            <a:ext cx="2939370" cy="522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Hyperlocal environmental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awareness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40891" y="3386919"/>
            <a:ext cx="71438" cy="7143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871" y="3354512"/>
            <a:ext cx="319437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decision support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638994" y="3758989"/>
            <a:ext cx="61912" cy="7143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/>
        </p:spPr>
      </p:sp>
      <p:sp>
        <p:nvSpPr>
          <p:cNvPr id="16" name="Text 14"/>
          <p:cNvSpPr/>
          <p:nvPr/>
        </p:nvSpPr>
        <p:spPr>
          <a:xfrm>
            <a:off x="809551" y="3726582"/>
            <a:ext cx="3504128" cy="522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cleaner and healthier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communities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5212184" y="1417290"/>
            <a:ext cx="236097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5F7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2160" dirty="0"/>
          </a:p>
        </p:txBody>
      </p:sp>
      <p:sp>
        <p:nvSpPr>
          <p:cNvPr id="18" name="Shape 16"/>
          <p:cNvSpPr/>
          <p:nvPr/>
        </p:nvSpPr>
        <p:spPr>
          <a:xfrm>
            <a:off x="7113277" y="1740880"/>
            <a:ext cx="638175" cy="2381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213040" y="1996343"/>
            <a:ext cx="71438" cy="7143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95020" y="1963936"/>
            <a:ext cx="224227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application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5213040" y="2368414"/>
            <a:ext cx="71438" cy="7143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95020" y="2336006"/>
            <a:ext cx="283073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Maps integration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5213040" y="2740484"/>
            <a:ext cx="71438" cy="7143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5395020" y="2708077"/>
            <a:ext cx="25124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air quality sensors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5213040" y="3112554"/>
            <a:ext cx="71438" cy="7143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5020" y="3080147"/>
            <a:ext cx="294343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AQI forecasting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5213040" y="3484625"/>
            <a:ext cx="71438" cy="7143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8" name="Text 26"/>
          <p:cNvSpPr/>
          <p:nvPr/>
        </p:nvSpPr>
        <p:spPr>
          <a:xfrm>
            <a:off x="5395020" y="3452217"/>
            <a:ext cx="404131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DC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monitoring dashboard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640556" y="4174666"/>
            <a:ext cx="7862887" cy="504825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2092821" y="4382095"/>
            <a:ext cx="650291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90" kern="0" spc="-34" dirty="0">
                <a:solidFill>
                  <a:srgbClr val="DFF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“Empowering communities with AI for cleaner air.”</a:t>
            </a:r>
            <a:endParaRPr lang="en-US" sz="169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56" y="4174666"/>
            <a:ext cx="7862887" cy="504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321</Words>
  <Application>Microsoft Office PowerPoint</Application>
  <PresentationFormat>On-screen Show (16:9)</PresentationFormat>
  <Paragraphs>139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Suraj Maharana</cp:lastModifiedBy>
  <cp:revision>2</cp:revision>
  <dcterms:created xsi:type="dcterms:W3CDTF">2026-09-29T16:43:03Z</dcterms:created>
  <dcterms:modified xsi:type="dcterms:W3CDTF">2026-09-29T18:14:55Z</dcterms:modified>
</cp:coreProperties>
</file>